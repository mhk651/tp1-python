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63" r:id="rId7"/>
    <p:sldId id="264" r:id="rId8"/>
    <p:sldId id="271" r:id="rId9"/>
  </p:sldIdLst>
  <p:sldSz cx="9906000" cy="6858000" type="A4"/>
  <p:notesSz cx="6794500" cy="9931400"/>
  <p:defaultTextStyle>
    <a:defPPr>
      <a:defRPr lang="fr-FR"/>
    </a:defPPr>
    <a:lvl1pPr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56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28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00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72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A9172D"/>
    <a:srgbClr val="CA2420"/>
    <a:srgbClr val="073877"/>
    <a:srgbClr val="7D3278"/>
    <a:srgbClr val="4B444C"/>
    <a:srgbClr val="3A353B"/>
    <a:srgbClr val="008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7" autoAdjust="0"/>
    <p:restoredTop sz="94676" autoAdjust="0"/>
  </p:normalViewPr>
  <p:slideViewPr>
    <p:cSldViewPr snapToGrid="0" snapToObjects="1">
      <p:cViewPr varScale="1">
        <p:scale>
          <a:sx n="121" d="100"/>
          <a:sy n="121" d="100"/>
        </p:scale>
        <p:origin x="1356" y="9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99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fr-FR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8645" y="0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162D2B8B-AF54-49FF-8073-AE3AC7260CC1}" type="datetimeFigureOut">
              <a:rPr lang="fr-FR"/>
              <a:pPr/>
              <a:t>04/09/2026</a:t>
            </a:fld>
            <a:endParaRPr lang="fr-FR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106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fr-FR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8645" y="9433106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3D67C088-709F-4AE0-89E0-58551D9C1AFF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6968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144F0-ACBA-41CA-B07B-305D7D631902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76313" y="1241425"/>
            <a:ext cx="484187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58208-72EB-412F-9B74-DD9852546B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48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258208-72EB-412F-9B74-DD9852546B3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953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85901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AE927-6E14-46AA-BD3C-45FF0EF702F4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1A2DB-7A73-48C8-8C9C-A104D1E7133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64694-AAAA-4F36-8EA9-BCD14403D1F7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A6401-485C-4CCD-B645-2F1E029AF5A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82506" y="2906714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4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3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0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512DB-FE7D-48F8-843D-64281D8F64F0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103D-8331-4758-BE7B-74C45E85056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36576" y="1600202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448301" y="1600202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E56A3-CCE0-4A30-A044-892A43DC181C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D2B39-ED06-4C2C-B863-89211E38BE7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1" y="1535114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7" indent="0">
              <a:buNone/>
              <a:defRPr sz="2000" b="1"/>
            </a:lvl2pPr>
            <a:lvl3pPr marL="914373" indent="0">
              <a:buNone/>
              <a:defRPr sz="1800" b="1"/>
            </a:lvl3pPr>
            <a:lvl4pPr marL="1371560" indent="0">
              <a:buNone/>
              <a:defRPr sz="1600" b="1"/>
            </a:lvl4pPr>
            <a:lvl5pPr marL="1828747" indent="0">
              <a:buNone/>
              <a:defRPr sz="1600" b="1"/>
            </a:lvl5pPr>
            <a:lvl6pPr marL="2285933" indent="0">
              <a:buNone/>
              <a:defRPr sz="1600" b="1"/>
            </a:lvl6pPr>
            <a:lvl7pPr marL="2743120" indent="0">
              <a:buNone/>
              <a:defRPr sz="1600" b="1"/>
            </a:lvl7pPr>
            <a:lvl8pPr marL="3200307" indent="0">
              <a:buNone/>
              <a:defRPr sz="1600" b="1"/>
            </a:lvl8pPr>
            <a:lvl9pPr marL="3657494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5301" y="2174876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32111" y="1535114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7" indent="0">
              <a:buNone/>
              <a:defRPr sz="2000" b="1"/>
            </a:lvl2pPr>
            <a:lvl3pPr marL="914373" indent="0">
              <a:buNone/>
              <a:defRPr sz="1800" b="1"/>
            </a:lvl3pPr>
            <a:lvl4pPr marL="1371560" indent="0">
              <a:buNone/>
              <a:defRPr sz="1600" b="1"/>
            </a:lvl4pPr>
            <a:lvl5pPr marL="1828747" indent="0">
              <a:buNone/>
              <a:defRPr sz="1600" b="1"/>
            </a:lvl5pPr>
            <a:lvl6pPr marL="2285933" indent="0">
              <a:buNone/>
              <a:defRPr sz="1600" b="1"/>
            </a:lvl6pPr>
            <a:lvl7pPr marL="2743120" indent="0">
              <a:buNone/>
              <a:defRPr sz="1600" b="1"/>
            </a:lvl7pPr>
            <a:lvl8pPr marL="3200307" indent="0">
              <a:buNone/>
              <a:defRPr sz="1600" b="1"/>
            </a:lvl8pPr>
            <a:lvl9pPr marL="3657494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032111" y="2174876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8BA17-F260-4F2F-BD55-991C4A010CA1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AC0445-4A0C-4319-AC41-80E058EA20B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385A7-BDAA-4FC1-9EFF-FB985F2609C2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E68C1-F8FF-4008-B357-741409F3ADC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B9AAE-2E4C-4BD8-9D91-8998300E05D9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F1925-DB03-4093-AB37-49228A84829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5301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7" indent="0">
              <a:buNone/>
              <a:defRPr sz="1200"/>
            </a:lvl2pPr>
            <a:lvl3pPr marL="914373" indent="0">
              <a:buNone/>
              <a:defRPr sz="1000"/>
            </a:lvl3pPr>
            <a:lvl4pPr marL="1371560" indent="0">
              <a:buNone/>
              <a:defRPr sz="900"/>
            </a:lvl4pPr>
            <a:lvl5pPr marL="1828747" indent="0">
              <a:buNone/>
              <a:defRPr sz="900"/>
            </a:lvl5pPr>
            <a:lvl6pPr marL="2285933" indent="0">
              <a:buNone/>
              <a:defRPr sz="900"/>
            </a:lvl6pPr>
            <a:lvl7pPr marL="2743120" indent="0">
              <a:buNone/>
              <a:defRPr sz="900"/>
            </a:lvl7pPr>
            <a:lvl8pPr marL="3200307" indent="0">
              <a:buNone/>
              <a:defRPr sz="900"/>
            </a:lvl8pPr>
            <a:lvl9pPr marL="3657494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964C1-DFAB-4FAA-A9E2-E56B81CD93D7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40EA4-6935-4533-B9E9-044B8B2E684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7" indent="0">
              <a:buNone/>
              <a:defRPr sz="2800"/>
            </a:lvl2pPr>
            <a:lvl3pPr marL="914373" indent="0">
              <a:buNone/>
              <a:defRPr sz="2400"/>
            </a:lvl3pPr>
            <a:lvl4pPr marL="1371560" indent="0">
              <a:buNone/>
              <a:defRPr sz="2000"/>
            </a:lvl4pPr>
            <a:lvl5pPr marL="1828747" indent="0">
              <a:buNone/>
              <a:defRPr sz="2000"/>
            </a:lvl5pPr>
            <a:lvl6pPr marL="2285933" indent="0">
              <a:buNone/>
              <a:defRPr sz="2000"/>
            </a:lvl6pPr>
            <a:lvl7pPr marL="2743120" indent="0">
              <a:buNone/>
              <a:defRPr sz="2000"/>
            </a:lvl7pPr>
            <a:lvl8pPr marL="3200307" indent="0">
              <a:buNone/>
              <a:defRPr sz="2000"/>
            </a:lvl8pPr>
            <a:lvl9pPr marL="3657494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7" indent="0">
              <a:buNone/>
              <a:defRPr sz="1200"/>
            </a:lvl2pPr>
            <a:lvl3pPr marL="914373" indent="0">
              <a:buNone/>
              <a:defRPr sz="1000"/>
            </a:lvl3pPr>
            <a:lvl4pPr marL="1371560" indent="0">
              <a:buNone/>
              <a:defRPr sz="900"/>
            </a:lvl4pPr>
            <a:lvl5pPr marL="1828747" indent="0">
              <a:buNone/>
              <a:defRPr sz="900"/>
            </a:lvl5pPr>
            <a:lvl6pPr marL="2285933" indent="0">
              <a:buNone/>
              <a:defRPr sz="900"/>
            </a:lvl6pPr>
            <a:lvl7pPr marL="2743120" indent="0">
              <a:buNone/>
              <a:defRPr sz="900"/>
            </a:lvl7pPr>
            <a:lvl8pPr marL="3200307" indent="0">
              <a:buNone/>
              <a:defRPr sz="900"/>
            </a:lvl8pPr>
            <a:lvl9pPr marL="3657494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F4C6A-3140-4007-827B-627E3A8CB5E7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A07B7A-E301-45CC-B0B3-BCEADB5E1CC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F6334-F47D-427A-9FB0-42BAACAC054B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412CE-E20E-447B-8954-43E11DF2372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36576" y="274639"/>
            <a:ext cx="7078663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5C460-BC95-4F89-8A27-37A1F14849D9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21008-3F5F-4684-861A-E3CEE098A56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8" rIns="91438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8" rIns="91438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38" tIns="45718" rIns="91438" bIns="45718" rtlCol="0" anchor="ctr"/>
          <a:lstStyle>
            <a:lvl1pPr algn="l" defTabSz="457187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5E60DAB-1FC6-4423-91BE-420F50AE9BBC}" type="datetimeFigureOut">
              <a:rPr lang="fr-FR"/>
              <a:pPr>
                <a:defRPr/>
              </a:pPr>
              <a:t>04/09/2026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38" tIns="45718" rIns="91438" bIns="45718" rtlCol="0" anchor="ctr"/>
          <a:lstStyle>
            <a:lvl1pPr algn="ctr" defTabSz="457187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38" tIns="45718" rIns="91438" bIns="45718" rtlCol="0" anchor="ctr"/>
          <a:lstStyle>
            <a:lvl1pPr algn="r" defTabSz="457187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FAA9DA4-8BFA-46D5-AD15-39249DD7B87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defTabSz="455613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56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56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56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56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56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56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56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56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1313" indent="-341313" algn="l" defTabSz="455613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455613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455613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455613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455613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27" indent="-228594" algn="l" defTabSz="45718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14" indent="-228594" algn="l" defTabSz="45718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00" indent="-228594" algn="l" defTabSz="45718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87" indent="-228594" algn="l" defTabSz="45718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1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7" algn="l" defTabSz="4571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3" algn="l" defTabSz="4571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0" algn="l" defTabSz="4571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47" algn="l" defTabSz="4571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33" algn="l" defTabSz="4571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20" algn="l" defTabSz="4571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07" algn="l" defTabSz="4571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94" algn="l" defTabSz="4571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master-statistique-financ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re 1"/>
          <p:cNvSpPr>
            <a:spLocks noGrp="1"/>
          </p:cNvSpPr>
          <p:nvPr>
            <p:ph type="ctrTitle"/>
          </p:nvPr>
        </p:nvSpPr>
        <p:spPr>
          <a:xfrm>
            <a:off x="1255713" y="2035175"/>
            <a:ext cx="7664450" cy="1336675"/>
          </a:xfrm>
        </p:spPr>
        <p:txBody>
          <a:bodyPr/>
          <a:lstStyle/>
          <a:p>
            <a:pPr algn="l"/>
            <a:r>
              <a:rPr lang="fr-FR" dirty="0">
                <a:solidFill>
                  <a:schemeClr val="bg1"/>
                </a:solidFill>
              </a:rPr>
              <a:t>Finance, </a:t>
            </a:r>
            <a:r>
              <a:rPr lang="fr-FR" dirty="0" err="1">
                <a:solidFill>
                  <a:schemeClr val="bg1"/>
                </a:solidFill>
              </a:rPr>
              <a:t>Risks</a:t>
            </a:r>
            <a:r>
              <a:rPr lang="fr-FR" dirty="0">
                <a:solidFill>
                  <a:schemeClr val="bg1"/>
                </a:solidFill>
              </a:rPr>
              <a:t> and Data</a:t>
            </a:r>
          </a:p>
        </p:txBody>
      </p:sp>
      <p:sp>
        <p:nvSpPr>
          <p:cNvPr id="13315" name="Sous-titre 2"/>
          <p:cNvSpPr>
            <a:spLocks noGrp="1"/>
          </p:cNvSpPr>
          <p:nvPr>
            <p:ph type="subTitle" idx="1"/>
          </p:nvPr>
        </p:nvSpPr>
        <p:spPr>
          <a:xfrm>
            <a:off x="1292225" y="3281363"/>
            <a:ext cx="7627938" cy="1249362"/>
          </a:xfrm>
        </p:spPr>
        <p:txBody>
          <a:bodyPr/>
          <a:lstStyle/>
          <a:p>
            <a:pPr algn="l"/>
            <a:r>
              <a:rPr lang="fr-FR" sz="2800">
                <a:solidFill>
                  <a:schemeClr val="bg1"/>
                </a:solidFill>
              </a:rPr>
              <a:t>Présentation de la voie de spécialisation</a:t>
            </a:r>
          </a:p>
        </p:txBody>
      </p:sp>
      <p:sp>
        <p:nvSpPr>
          <p:cNvPr id="13316" name="Sous-titre 2"/>
          <p:cNvSpPr txBox="1">
            <a:spLocks/>
          </p:cNvSpPr>
          <p:nvPr/>
        </p:nvSpPr>
        <p:spPr bwMode="auto">
          <a:xfrm>
            <a:off x="1292225" y="4868863"/>
            <a:ext cx="7627938" cy="39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8" rIns="91438" bIns="45718"/>
          <a:lstStyle/>
          <a:p>
            <a:pPr defTabSz="457200">
              <a:spcBef>
                <a:spcPct val="20000"/>
              </a:spcBef>
              <a:buFont typeface="Arial" charset="0"/>
              <a:buNone/>
            </a:pPr>
            <a:r>
              <a:rPr lang="fr-FR" sz="1200" dirty="0">
                <a:latin typeface="Calibri" pitchFamily="34" charset="0"/>
              </a:rPr>
              <a:t>﻿04/12/2025</a:t>
            </a:r>
          </a:p>
          <a:p>
            <a:pPr defTabSz="457200">
              <a:spcBef>
                <a:spcPct val="20000"/>
              </a:spcBef>
              <a:buFont typeface="Arial" charset="0"/>
              <a:buNone/>
            </a:pPr>
            <a:endParaRPr lang="fr-FR" sz="1200" dirty="0">
              <a:latin typeface="Calibri" pitchFamily="34" charset="0"/>
            </a:endParaRPr>
          </a:p>
        </p:txBody>
      </p:sp>
      <p:sp>
        <p:nvSpPr>
          <p:cNvPr id="13317" name="Sous-titre 2"/>
          <p:cNvSpPr txBox="1">
            <a:spLocks/>
          </p:cNvSpPr>
          <p:nvPr/>
        </p:nvSpPr>
        <p:spPr bwMode="auto">
          <a:xfrm>
            <a:off x="1292225" y="5595938"/>
            <a:ext cx="7627938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8" rIns="91438" bIns="45718"/>
          <a:lstStyle/>
          <a:p>
            <a:pPr defTabSz="457200">
              <a:spcBef>
                <a:spcPct val="20000"/>
              </a:spcBef>
              <a:buFont typeface="Arial" charset="0"/>
              <a:buNone/>
            </a:pPr>
            <a:r>
              <a:rPr lang="fr-FR" dirty="0">
                <a:solidFill>
                  <a:srgbClr val="002060"/>
                </a:solidFill>
                <a:latin typeface="Calibri" pitchFamily="34" charset="0"/>
              </a:rPr>
              <a:t>Peter </a:t>
            </a:r>
            <a:r>
              <a:rPr lang="fr-FR" dirty="0" err="1">
                <a:solidFill>
                  <a:srgbClr val="002060"/>
                </a:solidFill>
                <a:latin typeface="Calibri" pitchFamily="34" charset="0"/>
              </a:rPr>
              <a:t>Tankov</a:t>
            </a:r>
            <a:endParaRPr lang="fr-FR" dirty="0">
              <a:solidFill>
                <a:srgbClr val="002060"/>
              </a:solidFill>
              <a:latin typeface="Calibri" pitchFamily="34" charset="0"/>
            </a:endParaRPr>
          </a:p>
          <a:p>
            <a:pPr defTabSz="457200">
              <a:spcBef>
                <a:spcPct val="20000"/>
              </a:spcBef>
              <a:buFont typeface="Arial" charset="0"/>
              <a:buNone/>
            </a:pPr>
            <a:r>
              <a:rPr lang="fr-FR" dirty="0">
                <a:solidFill>
                  <a:srgbClr val="002060"/>
                </a:solidFill>
                <a:latin typeface="Calibri" pitchFamily="34" charset="0"/>
              </a:rPr>
              <a:t>Jean-Michel </a:t>
            </a:r>
            <a:r>
              <a:rPr lang="fr-FR" dirty="0" err="1">
                <a:solidFill>
                  <a:srgbClr val="002060"/>
                </a:solidFill>
                <a:latin typeface="Calibri" pitchFamily="34" charset="0"/>
              </a:rPr>
              <a:t>Zakoian</a:t>
            </a:r>
            <a:endParaRPr lang="fr-FR" dirty="0">
              <a:solidFill>
                <a:srgbClr val="002060"/>
              </a:solidFill>
              <a:latin typeface="Calibri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32C96DC-16F4-3340-A386-4A092C724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82" y="4868863"/>
            <a:ext cx="1905793" cy="19057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38250" y="274638"/>
            <a:ext cx="8213725" cy="1143000"/>
          </a:xfrm>
        </p:spPr>
        <p:txBody>
          <a:bodyPr>
            <a:normAutofit/>
          </a:bodyPr>
          <a:lstStyle/>
          <a:p>
            <a:pPr algn="l"/>
            <a:r>
              <a:rPr lang="fr-FR" sz="3200" dirty="0">
                <a:solidFill>
                  <a:srgbClr val="4B444C"/>
                </a:solidFill>
              </a:rPr>
              <a:t>Les objectifs de la voie Finance, </a:t>
            </a:r>
            <a:r>
              <a:rPr lang="fr-FR" sz="3200" dirty="0" err="1">
                <a:solidFill>
                  <a:srgbClr val="4B444C"/>
                </a:solidFill>
              </a:rPr>
              <a:t>Risks</a:t>
            </a:r>
            <a:r>
              <a:rPr lang="fr-FR" sz="3200" dirty="0">
                <a:solidFill>
                  <a:srgbClr val="4B444C"/>
                </a:solidFill>
              </a:rPr>
              <a:t> and Data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38250" y="1417638"/>
            <a:ext cx="8140700" cy="45259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fr-FR" sz="2200" dirty="0">
                <a:solidFill>
                  <a:schemeClr val="accent2"/>
                </a:solidFill>
              </a:rPr>
              <a:t>Former des spécialistes des produits et marchés financiers, capables d’occuper de nombreuses fonctions: </a:t>
            </a:r>
            <a:r>
              <a:rPr lang="fr-FR" sz="1900" dirty="0"/>
              <a:t>analyste quantitatif (quant), analyste des données pour la finance, gérant (portfolio manager), gestionnaire des risques (</a:t>
            </a:r>
            <a:r>
              <a:rPr lang="fr-FR" sz="1900" dirty="0" err="1"/>
              <a:t>risk</a:t>
            </a:r>
            <a:r>
              <a:rPr lang="fr-FR" sz="1900" dirty="0"/>
              <a:t> manager), trader, </a:t>
            </a:r>
            <a:r>
              <a:rPr lang="fr-FR" sz="1900" dirty="0" err="1"/>
              <a:t>structureur</a:t>
            </a:r>
            <a:r>
              <a:rPr lang="fr-FR" sz="1900" dirty="0"/>
              <a:t> etc.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fr-FR" sz="2200" dirty="0">
                <a:solidFill>
                  <a:schemeClr val="accent2"/>
                </a:solidFill>
              </a:rPr>
              <a:t>Fournir une formation de haut niveau académique.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fr-FR" sz="1900" i="1" dirty="0"/>
              <a:t>Importance donnée à la modélisation stochastique et à la modélisation des données,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fr-FR" sz="1900" i="1" dirty="0"/>
              <a:t>Ouvrant vers des postes très qualifiés dans l’industrie financière,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fr-FR" sz="1900" i="1" dirty="0"/>
              <a:t>Et possibilité de poursuivre des études doctorales (thèse).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fr-FR" sz="2200" dirty="0">
                <a:solidFill>
                  <a:schemeClr val="accent2"/>
                </a:solidFill>
              </a:rPr>
              <a:t>Fournir une formation pluridisciplinaire équilibrée (point fort de l’ENSAE, qui la distingue des concurrents).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fr-FR" sz="1900" i="1" dirty="0"/>
              <a:t>Mathématiques financières (calcul stochastique, valorisation, méthodes numériques, …);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fr-FR" sz="1900" i="1" dirty="0"/>
              <a:t>Statistique / économétrie / machine </a:t>
            </a:r>
            <a:r>
              <a:rPr lang="fr-FR" sz="1900" i="1" dirty="0" err="1"/>
              <a:t>learning</a:t>
            </a:r>
            <a:r>
              <a:rPr lang="fr-FR" sz="1900" i="1" dirty="0"/>
              <a:t> / AI;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fr-FR" sz="1900" i="1" dirty="0"/>
              <a:t>Economie (macro/micro), environnement institutionnel.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endParaRPr lang="fr-FR" sz="1900" i="1" dirty="0"/>
          </a:p>
        </p:txBody>
      </p:sp>
      <p:sp>
        <p:nvSpPr>
          <p:cNvPr id="14340" name="Titre 1"/>
          <p:cNvSpPr txBox="1">
            <a:spLocks/>
          </p:cNvSpPr>
          <p:nvPr/>
        </p:nvSpPr>
        <p:spPr bwMode="auto">
          <a:xfrm>
            <a:off x="1282700" y="1160463"/>
            <a:ext cx="8212138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8" rIns="91438" bIns="45718" anchor="ctr"/>
          <a:lstStyle/>
          <a:p>
            <a:endParaRPr lang="fr-FR" sz="2500">
              <a:solidFill>
                <a:srgbClr val="A9172D"/>
              </a:solidFill>
              <a:latin typeface="Calibri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EE13F4F-0BAB-714D-BB94-ADC661579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485" y="5551017"/>
            <a:ext cx="1299515" cy="129951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re 1"/>
          <p:cNvSpPr>
            <a:spLocks noGrp="1"/>
          </p:cNvSpPr>
          <p:nvPr>
            <p:ph type="title"/>
          </p:nvPr>
        </p:nvSpPr>
        <p:spPr>
          <a:xfrm>
            <a:off x="1238250" y="438150"/>
            <a:ext cx="8213725" cy="942975"/>
          </a:xfrm>
        </p:spPr>
        <p:txBody>
          <a:bodyPr/>
          <a:lstStyle/>
          <a:p>
            <a:pPr marL="762000" indent="-762000"/>
            <a:r>
              <a:rPr lang="fr-FR" sz="2400" dirty="0">
                <a:solidFill>
                  <a:srgbClr val="4B444C"/>
                </a:solidFill>
              </a:rPr>
              <a:t>Un large socle commun (bases des mathématiques financières)</a:t>
            </a:r>
            <a:br>
              <a:rPr lang="fr-FR" sz="2400" dirty="0">
                <a:solidFill>
                  <a:srgbClr val="4B444C"/>
                </a:solidFill>
              </a:rPr>
            </a:br>
            <a:r>
              <a:rPr lang="fr-FR" sz="2400" dirty="0">
                <a:solidFill>
                  <a:srgbClr val="4B444C"/>
                </a:solidFill>
              </a:rPr>
              <a:t>+ un choix entre de nombreux cours</a:t>
            </a:r>
          </a:p>
        </p:txBody>
      </p:sp>
      <p:sp>
        <p:nvSpPr>
          <p:cNvPr id="8" name="_s15375"/>
          <p:cNvSpPr>
            <a:spLocks noChangeArrowheads="1"/>
          </p:cNvSpPr>
          <p:nvPr/>
        </p:nvSpPr>
        <p:spPr bwMode="auto">
          <a:xfrm>
            <a:off x="719138" y="1665288"/>
            <a:ext cx="3906837" cy="359652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lIns="20294" tIns="10147" rIns="20294" bIns="10147" anchor="ctr"/>
          <a:lstStyle/>
          <a:p>
            <a:pPr algn="ctr"/>
            <a:endParaRPr lang="fr-FR" sz="2000" dirty="0">
              <a:solidFill>
                <a:srgbClr val="CA2420"/>
              </a:solidFill>
              <a:latin typeface="Calibri" pitchFamily="34" charset="0"/>
            </a:endParaRPr>
          </a:p>
          <a:p>
            <a:pPr algn="ctr"/>
            <a:endParaRPr lang="fr-FR" sz="2000" dirty="0">
              <a:solidFill>
                <a:srgbClr val="CA2420"/>
              </a:solidFill>
              <a:latin typeface="Calibri" pitchFamily="34" charset="0"/>
            </a:endParaRPr>
          </a:p>
          <a:p>
            <a:pPr algn="ctr"/>
            <a:endParaRPr lang="fr-FR" sz="2000" dirty="0">
              <a:solidFill>
                <a:srgbClr val="CA2420"/>
              </a:solidFill>
              <a:latin typeface="Calibri" pitchFamily="34" charset="0"/>
            </a:endParaRPr>
          </a:p>
          <a:p>
            <a:pPr algn="ctr"/>
            <a:r>
              <a:rPr lang="fr-FR" sz="2000" dirty="0">
                <a:solidFill>
                  <a:srgbClr val="CA2420"/>
                </a:solidFill>
                <a:latin typeface="Calibri" pitchFamily="34" charset="0"/>
              </a:rPr>
              <a:t>Orientation « finance de marché »</a:t>
            </a:r>
          </a:p>
          <a:p>
            <a:pPr algn="ctr"/>
            <a:endParaRPr lang="fr-FR" sz="1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ＭＳ Ｐゴシック" pitchFamily="34" charset="-128"/>
            </a:endParaRPr>
          </a:p>
          <a:p>
            <a:pPr algn="ctr"/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Formation axée sur :</a:t>
            </a:r>
          </a:p>
          <a:p>
            <a:pPr algn="ctr"/>
            <a:endParaRPr lang="fr-FR" sz="1600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Mathématiques financières</a:t>
            </a:r>
          </a:p>
          <a:p>
            <a:pPr algn="ctr"/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pour la valorisation et la couverture</a:t>
            </a:r>
          </a:p>
          <a:p>
            <a:pPr algn="ctr"/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de produits dérivés</a:t>
            </a:r>
          </a:p>
          <a:p>
            <a:pPr algn="ctr"/>
            <a:endParaRPr lang="fr-FR" sz="1600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Méthodes numériques</a:t>
            </a:r>
          </a:p>
          <a:p>
            <a:pPr algn="ctr"/>
            <a:endParaRPr lang="fr-FR" sz="1600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Métiers des salles de marché:</a:t>
            </a:r>
          </a:p>
          <a:p>
            <a:pPr algn="ctr"/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Quant, trader, </a:t>
            </a:r>
            <a:r>
              <a:rPr lang="fr-FR" sz="1600" dirty="0" err="1">
                <a:solidFill>
                  <a:srgbClr val="3A353B"/>
                </a:solidFill>
                <a:latin typeface="Calibri" pitchFamily="34" charset="0"/>
              </a:rPr>
              <a:t>structureur</a:t>
            </a:r>
            <a:endParaRPr lang="fr-FR" sz="1600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endParaRPr lang="fr-FR" sz="1600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endParaRPr lang="fr-FR" sz="1600" b="1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endParaRPr lang="fr-FR" sz="1600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endParaRPr lang="fr-FR" sz="1300" dirty="0">
              <a:solidFill>
                <a:srgbClr val="3A353B"/>
              </a:solidFill>
              <a:latin typeface="Calibri" pitchFamily="34" charset="0"/>
            </a:endParaRPr>
          </a:p>
        </p:txBody>
      </p:sp>
      <p:sp>
        <p:nvSpPr>
          <p:cNvPr id="9" name="_s15377"/>
          <p:cNvSpPr>
            <a:spLocks noChangeArrowheads="1"/>
          </p:cNvSpPr>
          <p:nvPr/>
        </p:nvSpPr>
        <p:spPr bwMode="auto">
          <a:xfrm>
            <a:off x="4899025" y="1665288"/>
            <a:ext cx="3707460" cy="352433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lIns="20294" tIns="10147" rIns="20294" bIns="10147" anchor="ctr"/>
          <a:lstStyle/>
          <a:p>
            <a:pPr algn="ctr"/>
            <a:endParaRPr lang="fr-FR" sz="2000" dirty="0">
              <a:solidFill>
                <a:srgbClr val="CA2420"/>
              </a:solidFill>
              <a:latin typeface="Calibri" pitchFamily="34" charset="0"/>
            </a:endParaRPr>
          </a:p>
          <a:p>
            <a:pPr algn="ctr"/>
            <a:endParaRPr lang="fr-FR" sz="2000" dirty="0">
              <a:solidFill>
                <a:srgbClr val="CA2420"/>
              </a:solidFill>
              <a:latin typeface="Calibri" pitchFamily="34" charset="0"/>
            </a:endParaRPr>
          </a:p>
          <a:p>
            <a:pPr algn="ctr"/>
            <a:r>
              <a:rPr lang="fr-FR" sz="2000" dirty="0">
                <a:solidFill>
                  <a:srgbClr val="CA2420"/>
                </a:solidFill>
                <a:latin typeface="Calibri" pitchFamily="34" charset="0"/>
              </a:rPr>
              <a:t>Orientation « gestion des risques »</a:t>
            </a:r>
          </a:p>
          <a:p>
            <a:pPr algn="ctr"/>
            <a:endParaRPr lang="fr-FR" sz="2000" dirty="0">
              <a:solidFill>
                <a:srgbClr val="CA2420"/>
              </a:solidFill>
              <a:latin typeface="Calibri" pitchFamily="34" charset="0"/>
            </a:endParaRPr>
          </a:p>
          <a:p>
            <a:pPr algn="ctr"/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Formation axée sur :</a:t>
            </a:r>
          </a:p>
          <a:p>
            <a:pPr algn="ctr"/>
            <a:endParaRPr lang="fr-FR" sz="1600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Gestion des risques</a:t>
            </a:r>
          </a:p>
          <a:p>
            <a:pPr algn="ctr"/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(risques de marché, crédit, opérationnel)</a:t>
            </a:r>
          </a:p>
          <a:p>
            <a:pPr algn="ctr"/>
            <a:endParaRPr lang="fr-FR" sz="1600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Modèles statistiques/économétriques</a:t>
            </a:r>
          </a:p>
          <a:p>
            <a:pPr algn="ctr"/>
            <a:endParaRPr lang="fr-FR" sz="1600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r>
              <a:rPr lang="fr-FR" sz="1600" dirty="0" err="1">
                <a:solidFill>
                  <a:srgbClr val="3A353B"/>
                </a:solidFill>
                <a:latin typeface="Calibri" pitchFamily="34" charset="0"/>
              </a:rPr>
              <a:t>Risk</a:t>
            </a:r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 manager en BFI, gestionnaire</a:t>
            </a:r>
            <a:br>
              <a:rPr lang="fr-FR" sz="1600" dirty="0">
                <a:solidFill>
                  <a:srgbClr val="3A353B"/>
                </a:solidFill>
                <a:latin typeface="Calibri" pitchFamily="34" charset="0"/>
              </a:rPr>
            </a:br>
            <a:r>
              <a:rPr lang="fr-FR" sz="1600" dirty="0">
                <a:solidFill>
                  <a:srgbClr val="3A353B"/>
                </a:solidFill>
                <a:latin typeface="Calibri" pitchFamily="34" charset="0"/>
              </a:rPr>
              <a:t> actif-passif, gérant de portefeuille</a:t>
            </a:r>
          </a:p>
          <a:p>
            <a:pPr algn="ctr"/>
            <a:endParaRPr lang="fr-FR" sz="1600" b="1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endParaRPr lang="fr-FR" sz="1600" b="1" dirty="0">
              <a:solidFill>
                <a:srgbClr val="3A353B"/>
              </a:solidFill>
              <a:latin typeface="Calibri" pitchFamily="34" charset="0"/>
            </a:endParaRPr>
          </a:p>
          <a:p>
            <a:pPr algn="ctr"/>
            <a:endParaRPr lang="fr-FR" sz="1300" dirty="0">
              <a:solidFill>
                <a:srgbClr val="3A353B"/>
              </a:solidFill>
              <a:latin typeface="Calibri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50408D5-2FF7-2E48-8A02-189F2C4CF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485" y="5558485"/>
            <a:ext cx="1299515" cy="1299515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013661" y="5558485"/>
            <a:ext cx="7368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Insistance sur les techniques de Machine Learning/modélisation aléatoire et leurs applications 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re 1"/>
          <p:cNvSpPr>
            <a:spLocks noGrp="1"/>
          </p:cNvSpPr>
          <p:nvPr>
            <p:ph type="title"/>
          </p:nvPr>
        </p:nvSpPr>
        <p:spPr>
          <a:xfrm>
            <a:off x="1417638" y="0"/>
            <a:ext cx="8212137" cy="1143000"/>
          </a:xfrm>
        </p:spPr>
        <p:txBody>
          <a:bodyPr/>
          <a:lstStyle/>
          <a:p>
            <a:r>
              <a:rPr lang="fr-FR" sz="3200" dirty="0">
                <a:solidFill>
                  <a:srgbClr val="4B444C"/>
                </a:solidFill>
              </a:rPr>
              <a:t>Cours obligatoires </a:t>
            </a:r>
          </a:p>
        </p:txBody>
      </p:sp>
      <p:graphicFrame>
        <p:nvGraphicFramePr>
          <p:cNvPr id="20532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42181"/>
              </p:ext>
            </p:extLst>
          </p:nvPr>
        </p:nvGraphicFramePr>
        <p:xfrm>
          <a:off x="858838" y="1417394"/>
          <a:ext cx="8264525" cy="3027636"/>
        </p:xfrm>
        <a:graphic>
          <a:graphicData uri="http://schemas.openxmlformats.org/drawingml/2006/table">
            <a:tbl>
              <a:tblPr/>
              <a:tblGrid>
                <a:gridCol w="4132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2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Semestre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Semestre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8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Pricing and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hedging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of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financial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derivatives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Interest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rate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curve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models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Stochastic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calculus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/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financial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econometrics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Numerical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methods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in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financial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engineering / Machine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learning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in finance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878">
                <a:tc>
                  <a:txBody>
                    <a:bodyPr/>
                    <a:lstStyle/>
                    <a:p>
                      <a:pPr marL="0" marR="0" lvl="0" indent="0" algn="l" defTabSz="455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Foundations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of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risk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management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Finance </a:t>
                      </a:r>
                      <a:r>
                        <a:rPr kumimoji="0" lang="fr-F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seminar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B5CC3DB4-427B-9040-906B-4E90BCCA0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485" y="5558485"/>
            <a:ext cx="1299515" cy="129951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0112797-AFF6-F640-ABD5-4605E8D5DFBC}"/>
              </a:ext>
            </a:extLst>
          </p:cNvPr>
          <p:cNvSpPr txBox="1"/>
          <p:nvPr/>
        </p:nvSpPr>
        <p:spPr>
          <a:xfrm>
            <a:off x="1865885" y="4661119"/>
            <a:ext cx="7404591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Nombreux cours optionnels, à consulter dans le catalogue, notamment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Machine </a:t>
            </a:r>
            <a:r>
              <a:rPr lang="fr-FR" sz="1400" dirty="0" err="1"/>
              <a:t>learning</a:t>
            </a:r>
            <a:r>
              <a:rPr lang="fr-FR" sz="1400" dirty="0"/>
              <a:t> for portfolio management and trading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Green finance: </a:t>
            </a:r>
            <a:r>
              <a:rPr lang="fr-FR" sz="1400" dirty="0" err="1"/>
              <a:t>core</a:t>
            </a:r>
            <a:r>
              <a:rPr lang="fr-FR" sz="1400" dirty="0"/>
              <a:t> notions, Green finance: </a:t>
            </a:r>
            <a:r>
              <a:rPr lang="fr-FR" sz="1400" dirty="0" err="1"/>
              <a:t>risk</a:t>
            </a:r>
            <a:r>
              <a:rPr lang="fr-FR" sz="1400" dirty="0"/>
              <a:t> and portfolio management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GARCH and </a:t>
            </a:r>
            <a:r>
              <a:rPr lang="fr-FR" sz="1400" dirty="0" err="1"/>
              <a:t>stoch</a:t>
            </a:r>
            <a:r>
              <a:rPr lang="fr-FR" sz="1400" dirty="0"/>
              <a:t>. vol. </a:t>
            </a:r>
            <a:r>
              <a:rPr lang="fr-FR" sz="1400" dirty="0" err="1"/>
              <a:t>models</a:t>
            </a:r>
            <a:r>
              <a:rPr lang="fr-FR" sz="1400" dirty="0"/>
              <a:t>, </a:t>
            </a:r>
            <a:r>
              <a:rPr lang="fr-FR" sz="1400" dirty="0" err="1"/>
              <a:t>Risk</a:t>
            </a:r>
            <a:r>
              <a:rPr lang="fr-FR" sz="1400" dirty="0"/>
              <a:t> </a:t>
            </a:r>
            <a:r>
              <a:rPr lang="fr-FR" sz="1400" dirty="0" err="1"/>
              <a:t>measures</a:t>
            </a:r>
            <a:r>
              <a:rPr lang="fr-FR" sz="1400" dirty="0"/>
              <a:t>, </a:t>
            </a:r>
            <a:r>
              <a:rPr lang="fr-FR" sz="1400" dirty="0" err="1"/>
              <a:t>Dynamic</a:t>
            </a:r>
            <a:r>
              <a:rPr lang="fr-FR" sz="1400" dirty="0"/>
              <a:t> model </a:t>
            </a:r>
            <a:r>
              <a:rPr lang="fr-FR" sz="1400" dirty="0" err="1"/>
              <a:t>with</a:t>
            </a:r>
            <a:r>
              <a:rPr lang="fr-FR" sz="1400" dirty="0"/>
              <a:t> latent variables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Copulas and </a:t>
            </a:r>
            <a:r>
              <a:rPr lang="fr-FR" sz="1400" dirty="0" err="1"/>
              <a:t>financial</a:t>
            </a:r>
            <a:r>
              <a:rPr lang="fr-FR" sz="1400" dirty="0"/>
              <a:t> applications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Projet d’</a:t>
            </a:r>
            <a:r>
              <a:rPr lang="fr-FR" sz="1400" dirty="0" err="1"/>
              <a:t>approfondissemnent</a:t>
            </a:r>
            <a:r>
              <a:rPr lang="fr-FR" sz="1400" dirty="0"/>
              <a:t> en finance et assurance, Data challenge </a:t>
            </a:r>
          </a:p>
          <a:p>
            <a:r>
              <a:rPr lang="fr-FR" dirty="0"/>
              <a:t>Enseignements essentiellement en anglais 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re 1"/>
          <p:cNvSpPr>
            <a:spLocks noGrp="1"/>
          </p:cNvSpPr>
          <p:nvPr>
            <p:ph type="title"/>
          </p:nvPr>
        </p:nvSpPr>
        <p:spPr>
          <a:xfrm>
            <a:off x="1198563" y="274638"/>
            <a:ext cx="8212137" cy="1143000"/>
          </a:xfrm>
        </p:spPr>
        <p:txBody>
          <a:bodyPr/>
          <a:lstStyle/>
          <a:p>
            <a:pPr algn="l"/>
            <a:r>
              <a:rPr lang="fr-FR" sz="3600" dirty="0">
                <a:solidFill>
                  <a:srgbClr val="A9172D"/>
                </a:solidFill>
              </a:rPr>
              <a:t>Les Masters </a:t>
            </a:r>
            <a:r>
              <a:rPr lang="fr-FR" sz="3600" dirty="0" err="1">
                <a:solidFill>
                  <a:srgbClr val="A9172D"/>
                </a:solidFill>
              </a:rPr>
              <a:t>co</a:t>
            </a:r>
            <a:r>
              <a:rPr lang="fr-FR" sz="3600" dirty="0">
                <a:solidFill>
                  <a:srgbClr val="A9172D"/>
                </a:solidFill>
              </a:rPr>
              <a:t>-habilités en 2026-2027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70000" y="1128923"/>
            <a:ext cx="8140700" cy="3082465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fr-FR" sz="1800" b="1" dirty="0">
                <a:solidFill>
                  <a:srgbClr val="3A353B"/>
                </a:solidFill>
              </a:rPr>
              <a:t>﻿</a:t>
            </a:r>
            <a:r>
              <a:rPr lang="fr-FR" sz="2400" b="1" dirty="0"/>
              <a:t>M2 « </a:t>
            </a:r>
            <a:r>
              <a:rPr lang="fr-FR" sz="2400" b="1" dirty="0" err="1"/>
              <a:t>Statistics</a:t>
            </a:r>
            <a:r>
              <a:rPr lang="fr-FR" sz="2400" b="1" dirty="0"/>
              <a:t>, Finance &amp; </a:t>
            </a:r>
            <a:r>
              <a:rPr lang="fr-FR" sz="2400" b="1" dirty="0" err="1"/>
              <a:t>Actuarial</a:t>
            </a:r>
            <a:r>
              <a:rPr lang="fr-FR" sz="2400" b="1" dirty="0"/>
              <a:t> </a:t>
            </a:r>
            <a:r>
              <a:rPr lang="fr-FR" sz="2400" b="1" dirty="0" err="1"/>
              <a:t>studies</a:t>
            </a:r>
            <a:r>
              <a:rPr lang="fr-FR" sz="2400" b="1" dirty="0"/>
              <a:t>» (IP Paris)</a:t>
            </a:r>
            <a:endParaRPr lang="fr-FR" sz="1800" dirty="0"/>
          </a:p>
          <a:p>
            <a:pPr marL="0" indent="0">
              <a:lnSpc>
                <a:spcPct val="130000"/>
              </a:lnSpc>
              <a:buNone/>
            </a:pPr>
            <a:r>
              <a:rPr lang="fr-FR" sz="1600" dirty="0"/>
              <a:t>Master le plus imbriqué avec les enseignements </a:t>
            </a:r>
            <a:r>
              <a:rPr lang="fr-FR" sz="1600" dirty="0" err="1"/>
              <a:t>Ensae</a:t>
            </a:r>
            <a:r>
              <a:rPr lang="fr-FR" sz="1600" dirty="0"/>
              <a:t> :</a:t>
            </a:r>
            <a:br>
              <a:rPr lang="fr-FR" sz="1600" dirty="0"/>
            </a:br>
            <a:r>
              <a:rPr lang="fr-FR" sz="1600" dirty="0"/>
              <a:t>Statistique/économétrie/Modélisation en finance et assurance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fr-FR" sz="1600" dirty="0"/>
              <a:t>Pour les </a:t>
            </a:r>
            <a:r>
              <a:rPr lang="fr-FR" sz="1600" dirty="0" err="1"/>
              <a:t>Ensae</a:t>
            </a:r>
            <a:r>
              <a:rPr lang="fr-FR" sz="1600" dirty="0"/>
              <a:t> : valider au moins 4 cours hors du cursus « ingénieur </a:t>
            </a:r>
            <a:r>
              <a:rPr lang="fr-FR" sz="1600" dirty="0" err="1"/>
              <a:t>Ensae</a:t>
            </a:r>
            <a:r>
              <a:rPr lang="fr-FR" sz="1600" dirty="0"/>
              <a:t> »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fr-FR" sz="1600" dirty="0"/>
              <a:t>Participation à un travail d’approfondissement en groupe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fr-FR" sz="1600" dirty="0"/>
              <a:t>Ouvert aux futurs actuaires. </a:t>
            </a:r>
            <a:r>
              <a:rPr lang="fr-FR" sz="1600" u="sng" dirty="0">
                <a:hlinkClick r:id="rId2"/>
              </a:rPr>
              <a:t>http://www.master-statistique-finance.com</a:t>
            </a:r>
            <a:endParaRPr lang="fr-FR" sz="1600" u="sng" dirty="0"/>
          </a:p>
          <a:p>
            <a:pPr marL="0" indent="0">
              <a:lnSpc>
                <a:spcPct val="130000"/>
              </a:lnSpc>
              <a:buNone/>
            </a:pPr>
            <a:r>
              <a:rPr lang="fr-FR" sz="1600" i="1" dirty="0"/>
              <a:t>Responsables</a:t>
            </a:r>
            <a:r>
              <a:rPr lang="fr-FR" sz="1600" dirty="0"/>
              <a:t> : Christian Francq, Caroline </a:t>
            </a:r>
            <a:r>
              <a:rPr lang="fr-FR" sz="1600" dirty="0" err="1"/>
              <a:t>Hillairet</a:t>
            </a:r>
            <a:r>
              <a:rPr lang="fr-FR" sz="1600" dirty="0"/>
              <a:t>, Roxana </a:t>
            </a:r>
            <a:r>
              <a:rPr lang="fr-FR" sz="1600" dirty="0" err="1"/>
              <a:t>Dumitrescu</a:t>
            </a:r>
            <a:endParaRPr lang="fr-FR" sz="1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FFAF12-A8BB-BF4C-A0B6-3BCF305EB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485" y="5558485"/>
            <a:ext cx="1299515" cy="129951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1023845-7381-994A-87D5-C0AE6B542C4F}"/>
              </a:ext>
            </a:extLst>
          </p:cNvPr>
          <p:cNvSpPr txBox="1"/>
          <p:nvPr/>
        </p:nvSpPr>
        <p:spPr>
          <a:xfrm>
            <a:off x="1497987" y="3913371"/>
            <a:ext cx="69100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b="1" dirty="0"/>
              <a:t>M2 Modélisation Aléatoire </a:t>
            </a:r>
            <a:r>
              <a:rPr lang="fr-FR" sz="2000" dirty="0"/>
              <a:t>(Université Paris-Diderot)</a:t>
            </a:r>
          </a:p>
          <a:p>
            <a:pPr algn="ctr"/>
            <a:r>
              <a:rPr lang="fr-FR" sz="1600" dirty="0"/>
              <a:t>Correspondant du Master à l’ENSAE : Jean-François </a:t>
            </a:r>
            <a:r>
              <a:rPr lang="fr-FR" sz="1600" dirty="0" err="1"/>
              <a:t>Chassagneux</a:t>
            </a:r>
            <a:endParaRPr lang="fr-FR" sz="1600" dirty="0"/>
          </a:p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54B154-12B7-8F43-8BCF-153060BF2DB5}"/>
              </a:ext>
            </a:extLst>
          </p:cNvPr>
          <p:cNvSpPr txBox="1"/>
          <p:nvPr/>
        </p:nvSpPr>
        <p:spPr>
          <a:xfrm>
            <a:off x="1198563" y="4538683"/>
            <a:ext cx="73784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+mn-lt"/>
              </a:rPr>
              <a:t>Les cours de l’ENSAE « Pricing and </a:t>
            </a:r>
            <a:r>
              <a:rPr lang="fr-FR" sz="1600" dirty="0" err="1">
                <a:latin typeface="+mn-lt"/>
              </a:rPr>
              <a:t>hedging</a:t>
            </a:r>
            <a:r>
              <a:rPr lang="fr-FR" sz="1600" dirty="0">
                <a:latin typeface="+mn-lt"/>
              </a:rPr>
              <a:t> of </a:t>
            </a:r>
            <a:r>
              <a:rPr lang="fr-FR" sz="1600" dirty="0" err="1">
                <a:latin typeface="+mn-lt"/>
              </a:rPr>
              <a:t>financial</a:t>
            </a:r>
            <a:r>
              <a:rPr lang="fr-FR" sz="1600" dirty="0">
                <a:latin typeface="+mn-lt"/>
              </a:rPr>
              <a:t> </a:t>
            </a:r>
            <a:r>
              <a:rPr lang="fr-FR" sz="1600" dirty="0" err="1">
                <a:latin typeface="+mn-lt"/>
              </a:rPr>
              <a:t>derivatives</a:t>
            </a:r>
            <a:r>
              <a:rPr lang="fr-FR" sz="1600" dirty="0">
                <a:latin typeface="+mn-lt"/>
              </a:rPr>
              <a:t>» </a:t>
            </a:r>
          </a:p>
          <a:p>
            <a:r>
              <a:rPr lang="fr-FR" sz="1600" dirty="0">
                <a:latin typeface="+mn-lt"/>
              </a:rPr>
              <a:t>et « </a:t>
            </a:r>
            <a:r>
              <a:rPr lang="fr-FR" sz="1600" dirty="0" err="1">
                <a:latin typeface="+mn-lt"/>
              </a:rPr>
              <a:t>Stochastic</a:t>
            </a:r>
            <a:r>
              <a:rPr lang="fr-FR" sz="1600" dirty="0">
                <a:latin typeface="+mn-lt"/>
              </a:rPr>
              <a:t> </a:t>
            </a:r>
            <a:r>
              <a:rPr lang="fr-FR" sz="1600" dirty="0" err="1">
                <a:latin typeface="+mn-lt"/>
              </a:rPr>
              <a:t>calculus</a:t>
            </a:r>
            <a:r>
              <a:rPr lang="fr-FR" sz="1600" dirty="0">
                <a:latin typeface="+mn-lt"/>
              </a:rPr>
              <a:t>» peuvent être remplacés par les cours équivalents dans ce M2.</a:t>
            </a:r>
          </a:p>
          <a:p>
            <a:endParaRPr lang="fr-FR" sz="16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1023845-7381-994A-87D5-C0AE6B542C4F}"/>
              </a:ext>
            </a:extLst>
          </p:cNvPr>
          <p:cNvSpPr txBox="1"/>
          <p:nvPr/>
        </p:nvSpPr>
        <p:spPr>
          <a:xfrm>
            <a:off x="1896831" y="5284912"/>
            <a:ext cx="7578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MScT</a:t>
            </a:r>
            <a:r>
              <a:rPr lang="fr-FR" sz="2000" b="1" dirty="0"/>
              <a:t> AI for </a:t>
            </a:r>
            <a:r>
              <a:rPr lang="fr-FR" sz="2000" b="1" dirty="0" err="1"/>
              <a:t>Markets</a:t>
            </a:r>
            <a:r>
              <a:rPr lang="fr-FR" sz="2000" b="1" dirty="0"/>
              <a:t> and Quantitative Investment </a:t>
            </a:r>
            <a:r>
              <a:rPr lang="fr-FR" sz="2000" dirty="0"/>
              <a:t>(ENSAE-X)</a:t>
            </a:r>
          </a:p>
          <a:p>
            <a:r>
              <a:rPr lang="fr-FR" sz="1600"/>
              <a:t>Responsable </a:t>
            </a:r>
            <a:r>
              <a:rPr lang="fr-FR" sz="1600" dirty="0"/>
              <a:t>du </a:t>
            </a:r>
            <a:r>
              <a:rPr lang="fr-FR" sz="1600" dirty="0" err="1"/>
              <a:t>MScT</a:t>
            </a:r>
            <a:r>
              <a:rPr lang="fr-FR" sz="1600" dirty="0"/>
              <a:t> à l’ENSAE : Vianney Perchet</a:t>
            </a:r>
          </a:p>
        </p:txBody>
      </p:sp>
    </p:spTree>
    <p:extLst>
      <p:ext uri="{BB962C8B-B14F-4D97-AF65-F5344CB8AC3E}">
        <p14:creationId xmlns:p14="http://schemas.microsoft.com/office/powerpoint/2010/main" val="105764284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8c326f-6e03-4b77-aa52-02516376d22f">
      <Terms xmlns="http://schemas.microsoft.com/office/infopath/2007/PartnerControls"/>
    </lcf76f155ced4ddcb4097134ff3c332f>
    <TaxCatchAll xmlns="7fdedcb4-496c-44dc-b809-6d8ef51dac0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D14D2B09A04C82129589D204B6F3" ma:contentTypeVersion="15" ma:contentTypeDescription="Crée un document." ma:contentTypeScope="" ma:versionID="970199a3dbbbf5d488ed380efafd0b5a">
  <xsd:schema xmlns:xsd="http://www.w3.org/2001/XMLSchema" xmlns:xs="http://www.w3.org/2001/XMLSchema" xmlns:p="http://schemas.microsoft.com/office/2006/metadata/properties" xmlns:ns2="508c326f-6e03-4b77-aa52-02516376d22f" xmlns:ns3="7fdedcb4-496c-44dc-b809-6d8ef51dac0f" targetNamespace="http://schemas.microsoft.com/office/2006/metadata/properties" ma:root="true" ma:fieldsID="89d5cd686b90d9ce6df01174c8113913" ns2:_="" ns3:_="">
    <xsd:import namespace="508c326f-6e03-4b77-aa52-02516376d22f"/>
    <xsd:import namespace="7fdedcb4-496c-44dc-b809-6d8ef51dac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c326f-6e03-4b77-aa52-02516376d2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Balises d’images" ma:readOnly="false" ma:fieldId="{5cf76f15-5ced-4ddc-b409-7134ff3c332f}" ma:taxonomyMulti="true" ma:sspId="a3fec588-6c6b-4406-8ca4-9ac9567ea8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dedcb4-496c-44dc-b809-6d8ef51dac0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672a3954-29f1-45e1-930b-b30fd0d78713}" ma:internalName="TaxCatchAll" ma:showField="CatchAllData" ma:web="7fdedcb4-496c-44dc-b809-6d8ef51dac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840BFA-E9F5-4746-BEB7-6EB538F8A831}">
  <ds:schemaRefs>
    <ds:schemaRef ds:uri="http://schemas.microsoft.com/office/2006/metadata/properties"/>
    <ds:schemaRef ds:uri="http://schemas.microsoft.com/office/infopath/2007/PartnerControls"/>
    <ds:schemaRef ds:uri="508c326f-6e03-4b77-aa52-02516376d22f"/>
    <ds:schemaRef ds:uri="7fdedcb4-496c-44dc-b809-6d8ef51dac0f"/>
  </ds:schemaRefs>
</ds:datastoreItem>
</file>

<file path=customXml/itemProps2.xml><?xml version="1.0" encoding="utf-8"?>
<ds:datastoreItem xmlns:ds="http://schemas.openxmlformats.org/officeDocument/2006/customXml" ds:itemID="{AC0FC550-F669-4991-B0FD-C360FED12B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3D7029-0DCA-4C08-8F77-B1BC69C56C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8c326f-6e03-4b77-aa52-02516376d22f"/>
    <ds:schemaRef ds:uri="7fdedcb4-496c-44dc-b809-6d8ef51dac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4381</TotalTime>
  <Words>505</Words>
  <Application>Microsoft Office PowerPoint</Application>
  <PresentationFormat>Format A4 (210 x 297 mm)</PresentationFormat>
  <Paragraphs>77</Paragraphs>
  <Slides>5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Finance, Risks and Data</vt:lpstr>
      <vt:lpstr>Les objectifs de la voie Finance, Risks and Data</vt:lpstr>
      <vt:lpstr>Un large socle commun (bases des mathématiques financières) + un choix entre de nombreux cours</vt:lpstr>
      <vt:lpstr>Cours obligatoires </vt:lpstr>
      <vt:lpstr>Les Masters co-habilités en 2026-2027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Leonardy</dc:creator>
  <cp:lastModifiedBy>ROUHBAN Odile</cp:lastModifiedBy>
  <cp:revision>118</cp:revision>
  <cp:lastPrinted>2025-09-16T11:45:59Z</cp:lastPrinted>
  <dcterms:created xsi:type="dcterms:W3CDTF">2014-10-20T14:30:09Z</dcterms:created>
  <dcterms:modified xsi:type="dcterms:W3CDTF">2026-09-04T13:54:28Z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0x0101000DE6D14D2B09A04C82129589D204B6F3</vt:lpwstr>
  </property>
</Properties>
</file>